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– 0:20]  Title slide.</a:t>
            </a:r>
          </a:p>
          <a:p>
            <a:r>
              <a:t>Say who you are and the one-sentence framing: the input is a URDF file,</a:t>
            </a:r>
          </a:p>
          <a:p>
            <a:r>
              <a:t>the output is a robot you can control in real time, and the contribution</a:t>
            </a:r>
          </a:p>
          <a:p>
            <a:r>
              <a:t>sits in the dynamics model in between.</a:t>
            </a:r>
          </a:p>
          <a:p>
            <a:r>
              <a:t>Do not read the title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 – 1:20]  The problem, in one idea.</a:t>
            </a:r>
          </a:p>
          <a:p>
            <a:r>
              <a:t>The analytical model is not approximately right and slightly noisy — it is</a:t>
            </a:r>
          </a:p>
          <a:p>
            <a:r>
              <a:t>structurally incapable of representing the effects that dominate at the</a:t>
            </a:r>
          </a:p>
          <a:p>
            <a:r>
              <a:t>joint level. Emphasise: we are not trying to replace physics, we are trying</a:t>
            </a:r>
          </a:p>
          <a:p>
            <a:r>
              <a:t>to complete it. That framing carries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[1:20 – 2:20]  What is claimed.</a:t>
            </a:r>
          </a:p>
          <a:p>
            <a:r>
              <a:t>Three contributions, one per stage of the work. Say explicitly what is NOT</a:t>
            </a:r>
          </a:p>
          <a:p>
            <a:r>
              <a:t>claimed: no new learning theory, no hardware results yet — everything is in</a:t>
            </a:r>
          </a:p>
          <a:p>
            <a:r>
              <a:t>simulation, Isaac Sim for training and MuJoCo for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[2:20 – 3:10]  Standard, move fast.</a:t>
            </a:r>
          </a:p>
          <a:p>
            <a:r>
              <a:t>The audience knows this equation. The only point worth landing: RNEA is</a:t>
            </a:r>
          </a:p>
          <a:p>
            <a:r>
              <a:t>evaluated, not fitted. Nothing in the training loop can change it, which is</a:t>
            </a:r>
          </a:p>
          <a:p>
            <a:r>
              <a:t>what makes the guarantees downstream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[3:10 – 4:00]  The design argument.</a:t>
            </a:r>
          </a:p>
          <a:p>
            <a:r>
              <a:t>This is where you justify grey box over pure structure. The line to deliver</a:t>
            </a:r>
          </a:p>
          <a:p>
            <a:r>
              <a:t>slowly is the last one: relearning gravity is not just wasted capacity, it</a:t>
            </a:r>
          </a:p>
          <a:p>
            <a:r>
              <a:t>also throws away the automation — a structural model has to be re-derived</a:t>
            </a:r>
          </a:p>
          <a:p>
            <a:r>
              <a:t>per robot, ours is generated from the URDF.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[4:00 – 5:00]  The core idea. Take your time here.</a:t>
            </a:r>
          </a:p>
          <a:p>
            <a:r>
              <a:t>Point at the two braces. Then the real-time argument: q̈ is available offline</a:t>
            </a:r>
          </a:p>
          <a:p>
            <a:r>
              <a:t>during training but never inside a 1 kHz loop, so excluding it from the</a:t>
            </a:r>
          </a:p>
          <a:p>
            <a:r>
              <a:t>residual is a deployment requirement, not a modelling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[5:00 – 6:00]  The constraints are the contribution, not the loss.</a:t>
            </a:r>
          </a:p>
          <a:p>
            <a:r>
              <a:t>Two constraints: never command a torque the motor cannot deliver, and never</a:t>
            </a:r>
          </a:p>
          <a:p>
            <a:r>
              <a:t>let the learned term inject energy. Anticipate the obvious question — "is</a:t>
            </a:r>
          </a:p>
          <a:p>
            <a:r>
              <a:t>this a soft penalty?" — the answer is that dissipativity is additionally</a:t>
            </a:r>
          </a:p>
          <a:p>
            <a:r>
              <a:t>guaranteed by construction in FrictionNet, coming on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[6:00 – 7:00]  One figure, one path through it.</a:t>
            </a:r>
          </a:p>
          <a:p>
            <a:r>
              <a:t>Trace it left to right, once: URDF → RNEA → τ_rbd, and separately the</a:t>
            </a:r>
          </a:p>
          <a:p>
            <a:r>
              <a:t>measured state → encoding → the two residual networks. They meet at the</a:t>
            </a:r>
          </a:p>
          <a:p>
            <a:r>
              <a:t>sum. Then the losses at the bottom and the single gradient path — note that</a:t>
            </a:r>
          </a:p>
          <a:p>
            <a:r>
              <a:t>the gradient reaches only the residual networks, never RNEA.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[7:00 – 8:00]  Three degrees of guarantee.</a:t>
            </a:r>
          </a:p>
          <a:p>
            <a:r>
              <a:t>Free (the MLP), imposed by the augmented Lagrangian (torque limits), and</a:t>
            </a:r>
          </a:p>
          <a:p>
            <a:r>
              <a:t>structural (FrictionNet). Land the difference: the third one cannot fail on</a:t>
            </a:r>
          </a:p>
          <a:p>
            <a:r>
              <a:t>unseen data, because it is a property of the function class, not of the fit.</a:t>
            </a:r>
          </a:p>
          <a:p>
            <a:r>
              <a:t>This matters again on slide 14, where the accuracy gain turns out to be</a:t>
            </a:r>
          </a:p>
          <a:p>
            <a:r>
              <a:t>small — the guarantee is the point, not the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[8:00 – 9:00]  Closing the loop.</a:t>
            </a:r>
          </a:p>
          <a:p>
            <a:r>
              <a:t>The one non-obvious point: ε_j is measured, not tuned. A better model gives</a:t>
            </a:r>
          </a:p>
          <a:p>
            <a:r>
              <a:t>a smaller error bound, which gives lower gains, which gives a softer and</a:t>
            </a:r>
          </a:p>
          <a:p>
            <a:r>
              <a:t>safer arm. If asked about the known weakness of this template — deriving Kp</a:t>
            </a:r>
          </a:p>
          <a:p>
            <a:r>
              <a:t>from a stability lower bound means the best-modelled joints track worst —</a:t>
            </a:r>
          </a:p>
          <a:p>
            <a:r>
              <a:t>say so plainly; it is a limitation of the template, not of the</a:t>
            </a:r>
          </a:p>
          <a:p>
            <a:r>
              <a:t>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[9:00 – 10:00]  Protocol. Be crisp, this is a setup slide.</a:t>
            </a:r>
          </a:p>
          <a:p>
            <a:r>
              <a:t>The two design decisions worth defending are the saturation filter (learning</a:t>
            </a:r>
          </a:p>
          <a:p>
            <a:r>
              <a:t>a clipped torque would teach the network the simulator's limits, not the</a:t>
            </a:r>
          </a:p>
          <a:p>
            <a:r>
              <a:t>robot's physics) and the trajectory-wise split (a random split lets</a:t>
            </a:r>
          </a:p>
          <a:p>
            <a:r>
              <a:t>neighbouring timesteps of the same trajectory land on both sides, which</a:t>
            </a:r>
          </a:p>
          <a:p>
            <a:r>
              <a:t>makes any model look good).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 – 11:30]  The headline. Slow down.</a:t>
            </a:r>
          </a:p>
          <a:p>
            <a:r>
              <a:t>Read the table by column, not by row: accuracy first, then the guarantee</a:t>
            </a:r>
          </a:p>
          <a:p>
            <a:r>
              <a:t>column, which is the one the black box cannot fill in. If asked how the</a:t>
            </a:r>
          </a:p>
          <a:p>
            <a:r>
              <a:t>split was made, be ready to explain the partition precisely — this is the</a:t>
            </a:r>
          </a:p>
          <a:p>
            <a:r>
              <a:t>question most likely to 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[11:30 – 13:00]  Report the negative result yourself, before anyone finds it.</a:t>
            </a:r>
          </a:p>
          <a:p>
            <a:r>
              <a:t>This slide earns credibility for the whole talk. The mechanism is worth one</a:t>
            </a:r>
          </a:p>
          <a:p>
            <a:r>
              <a:t>sentence: the loss aggregates over joints, so a joint contributing almost</a:t>
            </a:r>
          </a:p>
          <a:p>
            <a:r>
              <a:t>nothing to the total has almost no gradient pressure to stay at zero.</a:t>
            </a:r>
          </a:p>
          <a:p>
            <a:r>
              <a:t>Say clearly that this is a limitation you measured, not one you were told.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[13:00 – 14:00]  Two results that both cut against the naive story.</a:t>
            </a:r>
          </a:p>
          <a:p>
            <a:r>
              <a:t>Frame the transfer result carefully and defensively: it does NOT show that</a:t>
            </a:r>
          </a:p>
          <a:p>
            <a:r>
              <a:t>the grey-box approach fails. It shows that a residual learned on one physics</a:t>
            </a:r>
          </a:p>
          <a:p>
            <a:r>
              <a:t>engine does not transfer unchanged to another — which is exactly what a</a:t>
            </a:r>
          </a:p>
          <a:p>
            <a:r>
              <a:t>residual is supposed to be sensitive to. It also gives the fine-tuning work</a:t>
            </a:r>
          </a:p>
          <a:p>
            <a:r>
              <a:t>a measured baseline to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[14:00 – 15:00]  Land it, then stop talking.</a:t>
            </a:r>
          </a:p>
          <a:p>
            <a:r>
              <a:t>Three sentences: what was built, what it measured, what is next. Do not</a:t>
            </a:r>
          </a:p>
          <a:p>
            <a:r>
              <a:t>introduce anything new here.</a:t>
            </a:r>
          </a:p>
          <a:p>
            <a:r>
              <a:t>Likely questions to have ready: why not train on the real robot (no hardware</a:t>
            </a:r>
          </a:p>
          <a:p>
            <a:r>
              <a:t>access during the internship); why grey box rather than black box (the</a:t>
            </a:r>
          </a:p>
          <a:p>
            <a:r>
              <a:t>guarantee column and the URDF automation, not raw accuracy); how the split</a:t>
            </a:r>
          </a:p>
          <a:p>
            <a:r>
              <a:t>was made; what happens to J7.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2412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  <a:defRPr sz="3600" b="1" i="0">
                <a:solidFill>
                  <a:srgbClr val="0F3D62"/>
                </a:solidFill>
                <a:latin typeface="Calibri"/>
              </a:defRPr>
            </a:pPr>
            <a:r>
              <a:t>Grey-Box Physics-Informed Networks for Payload-Conditioned Dynamics Learning and Control of a 7 DoF Manipulator</a:t>
            </a:r>
          </a:p>
          <a:p>
            <a:pPr algn="l">
              <a:spcAft>
                <a:spcPts val="0"/>
              </a:spcAft>
              <a:defRPr sz="1900" b="0" i="0">
                <a:solidFill>
                  <a:srgbClr val="5A6B7A"/>
                </a:solidFill>
                <a:latin typeface="Calibri"/>
              </a:defRPr>
            </a:pPr>
            <a:r>
              <a:t>An automated pipeline from URDF file to controlled robot, and 1 kHz real-time control of a simulated Franka Emika Panda (Isaac Sim / MuJoCo)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93776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1A1A1A"/>
                </a:solidFill>
                <a:latin typeface="Calibri"/>
              </a:defRPr>
            </a:pPr>
            <a:r>
              <a:t>Hugo Durieux</a:t>
            </a:r>
          </a:p>
          <a:p>
            <a:pPr algn="l">
              <a:spcAft>
                <a:spcPts val="0"/>
              </a:spcAft>
              <a:defRPr sz="1500" b="0" i="0">
                <a:solidFill>
                  <a:srgbClr val="5A6B7A"/>
                </a:solidFill>
                <a:latin typeface="Calibri"/>
              </a:defRPr>
            </a:pPr>
            <a:r>
              <a:t>Master's research internship  ·  University of Melbourne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5A6B7A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0F3D62"/>
                </a:solidFill>
                <a:latin typeface="Calibri"/>
              </a:defRPr>
            </a:pPr>
            <a:r>
              <a:t>A model that is exact — and still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20095" cy="12700"/>
          </a:xfrm>
          <a:prstGeom prst="rect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5A6B7A"/>
                </a:solidFill>
                <a:latin typeface="Calibri"/>
              </a:defRPr>
            </a:pPr>
            <a:r>
              <a:t>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20095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Torque-level control needs a faithful inverse dynamics model.</a:t>
            </a:r>
          </a:p>
          <a:p>
            <a:pPr algn="l">
              <a:spcAft>
                <a:spcPts val="10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The URDF gives one for free: geometry and inertia, exactly.</a:t>
            </a:r>
          </a:p>
          <a:p>
            <a:pPr algn="l">
              <a:spcAft>
                <a:spcPts val="10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But the rigid-body model knows nothing about:</a:t>
            </a:r>
          </a:p>
          <a:p>
            <a:pPr lvl="1" algn="l">
              <a:spcAft>
                <a:spcPts val="6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– dry and viscous friction in the harmonic drives</a:t>
            </a:r>
          </a:p>
          <a:p>
            <a:pPr lvl="1" algn="l">
              <a:spcAft>
                <a:spcPts val="6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– transmission compliance and mechanical backlash</a:t>
            </a:r>
          </a:p>
          <a:p>
            <a:pPr lvl="1" algn="l">
              <a:spcAft>
                <a:spcPts val="6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– actuator wear, and the payload the robot is carrying</a:t>
            </a:r>
          </a:p>
          <a:p>
            <a:pPr algn="l">
              <a:spcAft>
                <a:spcPts val="1000"/>
              </a:spcAft>
              <a:defRPr sz="2200" b="0" i="0">
                <a:solidFill>
                  <a:srgbClr val="B03A2E"/>
                </a:solidFill>
                <a:latin typeface="Calibri"/>
              </a:defRPr>
            </a:pPr>
            <a:r>
              <a:t>Result: a systematic gap between predicted and measured torque — and it is largest exactly where precision matters.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5A6B7A"/>
                </a:solidFill>
                <a:latin typeface="Calibri"/>
              </a:defRPr>
            </a:pPr>
            <a: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0F3D62"/>
                </a:solidFill>
                <a:latin typeface="Calibri"/>
              </a:defRPr>
            </a:pPr>
            <a:r>
              <a:t>Objective and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20095" cy="12700"/>
          </a:xfrm>
          <a:prstGeom prst="rect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5A6B7A"/>
                </a:solidFill>
                <a:latin typeface="Calibri"/>
              </a:defRPr>
            </a:pPr>
            <a: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20095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2000" b="1" i="0">
                <a:solidFill>
                  <a:srgbClr val="1A1A1A"/>
                </a:solidFill>
                <a:latin typeface="Calibri"/>
              </a:defRPr>
            </a:pPr>
            <a:r>
              <a:t>Goal: a pipeline whose only input is a URDF file and whose output is a trained, controllable robot.</a:t>
            </a:r>
          </a:p>
          <a:p>
            <a:pPr algn="l">
              <a:spcAft>
                <a:spcPts val="1000"/>
              </a:spcAft>
              <a:defRPr sz="2000" b="0" i="0">
                <a:solidFill>
                  <a:srgbClr val="5A6B7A"/>
                </a:solidFill>
                <a:latin typeface="Calibri"/>
              </a:defRPr>
            </a:pPr>
            <a:r>
              <a:t>Positioned against Liu, Borja &amp; Della Santina (2024): same robot, same method class, same purpose.</a:t>
            </a:r>
          </a:p>
          <a:p>
            <a:pPr algn="l">
              <a:spcAft>
                <a:spcPts val="10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10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1.  An automated “URDF → model” pipeline with dissipation and payload conditioning in a grey-box architecture.</a:t>
            </a:r>
          </a:p>
          <a:p>
            <a:pPr algn="l">
              <a:spcAft>
                <a:spcPts val="10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2.  Controllers for real-time tracking at 1 kHz that exploit the learned model's structure, with hard physical guarantees.</a:t>
            </a:r>
          </a:p>
          <a:p>
            <a:pPr algn="l">
              <a:spcAft>
                <a:spcPts val="10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3.  Simulation and cross-simulator robustness evaluation on a 7-DoF manipulator.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5A6B7A"/>
                </a:solidFill>
                <a:latin typeface="Calibri"/>
              </a:defRPr>
            </a:pPr>
            <a:r>
              <a:t>PRELIMINARIES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0F3D62"/>
                </a:solidFill>
                <a:latin typeface="Calibri"/>
              </a:defRPr>
            </a:pPr>
            <a:r>
              <a:t>Rigid-body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20095" cy="12700"/>
          </a:xfrm>
          <a:prstGeom prst="rect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5A6B7A"/>
                </a:solidFill>
                <a:latin typeface="Calibri"/>
              </a:defRPr>
            </a:pPr>
            <a:r>
              <a:t>4 / 15</a:t>
            </a:r>
          </a:p>
        </p:txBody>
      </p:sp>
      <p:pic>
        <p:nvPicPr>
          <p:cNvPr id="6" name="Picture 5" descr="eq_r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828800"/>
            <a:ext cx="7680960" cy="8239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200400"/>
            <a:ext cx="10820095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M(q) inertia · C(q, q̇) Coriolis · G(q) gravity, n = 7 for the Panda.</a:t>
            </a:r>
          </a:p>
          <a:p>
            <a:pPr algn="l">
              <a:spcAft>
                <a:spcPts val="10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Evaluated analytically by the recursive Newton–Euler algorithm (RNEA), through Pinocchio, straight from the URDF.</a:t>
            </a:r>
          </a:p>
          <a:p>
            <a:pPr algn="l">
              <a:spcAft>
                <a:spcPts val="1000"/>
              </a:spcAft>
              <a:defRPr sz="2000" b="1" i="0">
                <a:solidFill>
                  <a:srgbClr val="1A1A1A"/>
                </a:solidFill>
                <a:latin typeface="Calibri"/>
              </a:defRPr>
            </a:pPr>
            <a:r>
              <a:t>Never optimised, never relearned — this term is the white box.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5A6B7A"/>
                </a:solidFill>
                <a:latin typeface="Calibri"/>
              </a:defRPr>
            </a:pPr>
            <a:r>
              <a:t>PRELIMINARIES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0F3D62"/>
                </a:solidFill>
                <a:latin typeface="Calibri"/>
              </a:defRPr>
            </a:pPr>
            <a:r>
              <a:t>Why not a purely structural model?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20095" cy="12700"/>
          </a:xfrm>
          <a:prstGeom prst="rect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5A6B7A"/>
                </a:solidFill>
                <a:latin typeface="Calibri"/>
              </a:defRPr>
            </a:pPr>
            <a:r>
              <a:t>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20095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Deep Lagrangian / Hamiltonian networks assume the non-conservative forces are fully known.</a:t>
            </a:r>
          </a:p>
          <a:p>
            <a:pPr algn="l">
              <a:spcAft>
                <a:spcPts val="10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They learn the inertia matrix in Cholesky-factorised form — positive-definite by construction.</a:t>
            </a:r>
          </a:p>
          <a:p>
            <a:pPr algn="l">
              <a:spcAft>
                <a:spcPts val="1000"/>
              </a:spcAft>
              <a:defRPr sz="2100" b="1" i="0">
                <a:solidFill>
                  <a:srgbClr val="1A1A1A"/>
                </a:solidFill>
                <a:latin typeface="Calibri"/>
              </a:defRPr>
            </a:pPr>
            <a:r>
              <a:t>Two costs:</a:t>
            </a:r>
          </a:p>
          <a:p>
            <a:pPr lvl="1" algn="l">
              <a:spcAft>
                <a:spcPts val="600"/>
              </a:spcAft>
              <a:defRPr sz="1900" b="0" i="0">
                <a:solidFill>
                  <a:srgbClr val="1A1A1A"/>
                </a:solidFill>
                <a:latin typeface="Calibri"/>
              </a:defRPr>
            </a:pPr>
            <a:r>
              <a:t>– friction and compliance still have to come from somewhere</a:t>
            </a:r>
          </a:p>
          <a:p>
            <a:pPr lvl="1" algn="l">
              <a:spcAft>
                <a:spcPts val="600"/>
              </a:spcAft>
              <a:defRPr sz="1900" b="0" i="0">
                <a:solidFill>
                  <a:srgbClr val="1A1A1A"/>
                </a:solidFill>
                <a:latin typeface="Calibri"/>
              </a:defRPr>
            </a:pPr>
            <a:r>
              <a:t>– gravity and inertia are relearned, although the URDF already provides them exactly</a:t>
            </a:r>
          </a:p>
          <a:p>
            <a:pPr algn="l">
              <a:spcAft>
                <a:spcPts val="1000"/>
              </a:spcAft>
              <a:defRPr sz="2100" b="0" i="0">
                <a:solidFill>
                  <a:srgbClr val="B03A2E"/>
                </a:solidFill>
                <a:latin typeface="Calibri"/>
              </a:defRPr>
            </a:pPr>
            <a:r>
              <a:t>Our position: keep what the description file already knows, learn only what it cannot express.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5A6B7A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0F3D62"/>
                </a:solidFill>
                <a:latin typeface="Calibri"/>
              </a:defRPr>
            </a:pPr>
            <a:r>
              <a:t>The proposed hybrid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20095" cy="12700"/>
          </a:xfrm>
          <a:prstGeom prst="rect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5A6B7A"/>
                </a:solidFill>
                <a:latin typeface="Calibri"/>
              </a:defRPr>
            </a:pPr>
            <a:r>
              <a:t>6 / 15</a:t>
            </a:r>
          </a:p>
        </p:txBody>
      </p:sp>
      <p:pic>
        <p:nvPicPr>
          <p:cNvPr id="6" name="Picture 5" descr="eq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737360"/>
            <a:ext cx="10058400" cy="12390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291840"/>
            <a:ext cx="10820095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The residual absorbs dissipation and modelling error only.</a:t>
            </a:r>
          </a:p>
          <a:p>
            <a:pPr algn="l">
              <a:spcAft>
                <a:spcPts val="10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Conditioned on the carried payload δ — following Hu et al., backlash error depends on position and velocity, not on mass, so only the residual is conditioned.</a:t>
            </a:r>
          </a:p>
          <a:p>
            <a:pPr algn="l">
              <a:spcAft>
                <a:spcPts val="1000"/>
              </a:spcAft>
              <a:defRPr sz="2000" b="1" i="0">
                <a:solidFill>
                  <a:srgbClr val="1A1A1A"/>
                </a:solidFill>
                <a:latin typeface="Calibri"/>
              </a:defRPr>
            </a:pPr>
            <a:r>
              <a:t>τ_res does not depend on the acceleration q̈ → fast enough to query inside the control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5A6B7A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0F3D62"/>
                </a:solidFill>
                <a:latin typeface="Calibri"/>
              </a:defRPr>
            </a:pPr>
            <a:r>
              <a:t>Learning under hard physical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20095" cy="12700"/>
          </a:xfrm>
          <a:prstGeom prst="rect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5A6B7A"/>
                </a:solidFill>
                <a:latin typeface="Calibri"/>
              </a:defRPr>
            </a:pPr>
            <a:r>
              <a:t>7 / 15</a:t>
            </a:r>
          </a:p>
        </p:txBody>
      </p:sp>
      <p:pic>
        <p:nvPicPr>
          <p:cNvPr id="6" name="Picture 5" descr="eq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737360"/>
            <a:ext cx="10607040" cy="12660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474720"/>
            <a:ext cx="10820095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1900" b="0" i="0">
                <a:solidFill>
                  <a:srgbClr val="1A1A1A"/>
                </a:solidFill>
                <a:latin typeface="Calibri"/>
              </a:defRPr>
            </a:pPr>
            <a:r>
              <a:t>Solved with an augmented Lagrangian and dual ascent — multipliers are optimised, not fixed penalty weights.</a:t>
            </a:r>
          </a:p>
          <a:p>
            <a:pPr algn="l">
              <a:spcAft>
                <a:spcPts val="1000"/>
              </a:spcAft>
              <a:defRPr sz="1900" b="0" i="0">
                <a:solidFill>
                  <a:srgbClr val="5A6B7A"/>
                </a:solidFill>
                <a:latin typeface="Calibri"/>
              </a:defRPr>
            </a:pPr>
            <a:r>
              <a:t>Minimising the mean squared error alone is not enough: a model can show an excellent mean error and absurd maxima (Deng et al.).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5A6B7A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0F3D62"/>
                </a:solidFill>
                <a:latin typeface="Calibri"/>
              </a:defRPr>
            </a:pPr>
            <a:r>
              <a:t>Architecture and gradient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20095" cy="12700"/>
          </a:xfrm>
          <a:prstGeom prst="rect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5A6B7A"/>
                </a:solidFill>
                <a:latin typeface="Calibri"/>
              </a:defRPr>
            </a:pPr>
            <a:r>
              <a:t>8 / 15</a:t>
            </a:r>
          </a:p>
        </p:txBody>
      </p:sp>
      <p:pic>
        <p:nvPicPr>
          <p:cNvPr id="6" name="Picture 5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67" y="1600200"/>
            <a:ext cx="9052560" cy="42254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4360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5A6B7A"/>
                </a:solidFill>
                <a:latin typeface="Calibri"/>
              </a:defRPr>
            </a:pPr>
            <a:r>
              <a:t>Grey background: computed from the URDF, no learning. Bold outline: learned. Dashed: loss terms and backpropagation.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5A6B7A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0F3D62"/>
                </a:solidFill>
                <a:latin typeface="Calibri"/>
              </a:defRPr>
            </a:pPr>
            <a:r>
              <a:t>Structure inside the residual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20095" cy="12700"/>
          </a:xfrm>
          <a:prstGeom prst="rect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5A6B7A"/>
                </a:solidFill>
                <a:latin typeface="Calibri"/>
              </a:defRPr>
            </a:pPr>
            <a:r>
              <a:t>9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2009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Input encoding  x = [sin q, cos q, q̇, δ]  — removes angular discontinuities, captures gearbox torque ripple.</a:t>
            </a:r>
          </a:p>
          <a:p>
            <a:pPr algn="l">
              <a:spcAft>
                <a:spcPts val="10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Activation: Mish — C¹ continuous, so the commanded torque is smooth. Never ReLU.</a:t>
            </a:r>
          </a:p>
          <a:p>
            <a:pPr algn="l">
              <a:spcAft>
                <a:spcPts val="1000"/>
              </a:spcAft>
              <a:defRPr sz="2000" b="1" i="0">
                <a:solidFill>
                  <a:srgbClr val="1A1A1A"/>
                </a:solidFill>
                <a:latin typeface="Calibri"/>
              </a:defRPr>
            </a:pPr>
            <a:r>
              <a:t>FrictionNet guarantees dissipation by construction:</a:t>
            </a:r>
          </a:p>
        </p:txBody>
      </p:sp>
      <p:pic>
        <p:nvPicPr>
          <p:cNvPr id="7" name="Picture 6" descr="eq_f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3703320"/>
            <a:ext cx="7863840" cy="5897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52628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5A6B7A"/>
                </a:solidFill>
                <a:latin typeface="Calibri"/>
              </a:defRPr>
            </a:pPr>
            <a:r>
              <a:t>D positive-definite and diagonal ⇒ τ_fric·q̇ ≤ 0 for every input, with no reliance on the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5A6B7A"/>
                </a:solidFill>
                <a:latin typeface="Calibri"/>
              </a:defRPr>
            </a:pPr>
            <a: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0F3D62"/>
                </a:solidFill>
                <a:latin typeface="Calibri"/>
              </a:defRPr>
            </a:pPr>
            <a:r>
              <a:t>From model to torque, at 1 kHz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20095" cy="12700"/>
          </a:xfrm>
          <a:prstGeom prst="rect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5A6B7A"/>
                </a:solidFill>
                <a:latin typeface="Calibri"/>
              </a:defRPr>
            </a:pPr>
            <a:r>
              <a:t>10 / 15</a:t>
            </a:r>
          </a:p>
        </p:txBody>
      </p:sp>
      <p:pic>
        <p:nvPicPr>
          <p:cNvPr id="6" name="Picture 5" descr="eq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645920"/>
            <a:ext cx="9326880" cy="673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260604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900" b="0" i="0">
                <a:solidFill>
                  <a:srgbClr val="1A1A1A"/>
                </a:solidFill>
                <a:latin typeface="Calibri"/>
              </a:defRPr>
            </a:pPr>
            <a:r>
              <a:t>Gains bounded by the 99.9 % error quantile of the test set (ε_j), following Liu et al.:</a:t>
            </a:r>
          </a:p>
        </p:txBody>
      </p:sp>
      <p:pic>
        <p:nvPicPr>
          <p:cNvPr id="8" name="Picture 7" descr="eq_ga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647" y="3246120"/>
            <a:ext cx="5486400" cy="6906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297680"/>
            <a:ext cx="10820095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1900" b="0" i="0">
                <a:solidFill>
                  <a:srgbClr val="1A1A1A"/>
                </a:solidFill>
                <a:latin typeface="Calibri"/>
              </a:defRPr>
            </a:pPr>
            <a:r>
              <a:t>Computed-torque feedforward + PD, implemented as a ROS2 node against the MuJoCo engine.</a:t>
            </a:r>
          </a:p>
          <a:p>
            <a:pPr algn="l">
              <a:spcAft>
                <a:spcPts val="1000"/>
              </a:spcAft>
              <a:defRPr sz="1900" b="1" i="0">
                <a:solidFill>
                  <a:srgbClr val="1A1A1A"/>
                </a:solidFill>
                <a:latin typeface="Calibri"/>
              </a:defRPr>
            </a:pPr>
            <a:r>
              <a:t>The model's own measured error sets the feedback gains — the learning result feeds the control design directly.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5A6B7A"/>
                </a:solidFill>
                <a:latin typeface="Calibri"/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0F3D62"/>
                </a:solidFill>
                <a:latin typeface="Calibri"/>
              </a:defRPr>
            </a:pPr>
            <a:r>
              <a:t>Experimental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20095" cy="12700"/>
          </a:xfrm>
          <a:prstGeom prst="rect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5A6B7A"/>
                </a:solidFill>
                <a:latin typeface="Calibri"/>
              </a:defRPr>
            </a:pPr>
            <a:r>
              <a:t>11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20095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1900" b="1" i="0">
                <a:solidFill>
                  <a:srgbClr val="1A1A1A"/>
                </a:solidFill>
                <a:latin typeface="Calibri"/>
              </a:defRPr>
            </a:pPr>
            <a:r>
              <a:t>Data: robot dynamics simulated in Isaac Sim.</a:t>
            </a:r>
          </a:p>
          <a:p>
            <a:pPr lvl="1" algn="l">
              <a:spcAft>
                <a:spcPts val="600"/>
              </a:spcAft>
              <a:defRPr sz="1700" b="0" i="0">
                <a:solidFill>
                  <a:srgbClr val="1A1A1A"/>
                </a:solidFill>
                <a:latin typeface="Calibri"/>
              </a:defRPr>
            </a:pPr>
            <a:r>
              <a:t>– Sobol sequences + Fourier series to excite the configuration space.</a:t>
            </a:r>
          </a:p>
          <a:p>
            <a:pPr lvl="1" algn="l">
              <a:spcAft>
                <a:spcPts val="600"/>
              </a:spcAft>
              <a:defRPr sz="1700" b="0" i="0">
                <a:solidFill>
                  <a:srgbClr val="1A1A1A"/>
                </a:solidFill>
                <a:latin typeface="Calibri"/>
              </a:defRPr>
            </a:pPr>
            <a:r>
              <a:t>– Samples clipped by the simulator are filtered out (|τ| ≤ 0.97 τ̄) so saturation is not learned.</a:t>
            </a:r>
          </a:p>
          <a:p>
            <a:pPr lvl="1" algn="l">
              <a:spcAft>
                <a:spcPts val="600"/>
              </a:spcAft>
              <a:defRPr sz="1700" b="0" i="0">
                <a:solidFill>
                  <a:srgbClr val="1A1A1A"/>
                </a:solidFill>
                <a:latin typeface="Calibri"/>
              </a:defRPr>
            </a:pPr>
            <a:r>
              <a:t>– Strict trajectory-wise partition — no leakage, so the test set measures extrapolation.</a:t>
            </a:r>
          </a:p>
          <a:p>
            <a:pPr algn="l">
              <a:spcAft>
                <a:spcPts val="1000"/>
              </a:spcAft>
              <a:defRPr sz="1900" b="1" i="0">
                <a:solidFill>
                  <a:srgbClr val="1A1A1A"/>
                </a:solidFill>
                <a:latin typeface="Calibri"/>
              </a:defRPr>
            </a:pPr>
            <a:r>
              <a:t>Baselines:</a:t>
            </a:r>
          </a:p>
          <a:p>
            <a:pPr lvl="1" algn="l">
              <a:spcAft>
                <a:spcPts val="600"/>
              </a:spcAft>
              <a:defRPr sz="1700" b="0" i="0">
                <a:solidFill>
                  <a:srgbClr val="1A1A1A"/>
                </a:solidFill>
                <a:latin typeface="Calibri"/>
              </a:defRPr>
            </a:pPr>
            <a:r>
              <a:t>– RNEA alone — the URDF, no learning at all.</a:t>
            </a:r>
          </a:p>
          <a:p>
            <a:pPr lvl="1" algn="l">
              <a:spcAft>
                <a:spcPts val="600"/>
              </a:spcAft>
              <a:defRPr sz="1700" b="0" i="0">
                <a:solidFill>
                  <a:srgbClr val="1A1A1A"/>
                </a:solidFill>
                <a:latin typeface="Calibri"/>
              </a:defRPr>
            </a:pPr>
            <a:r>
              <a:t>– Direct MLP — a black box of the same capacity predicting the full torque, trained with AdamW.</a:t>
            </a:r>
          </a:p>
          <a:p>
            <a:pPr algn="l">
              <a:spcAft>
                <a:spcPts val="1000"/>
              </a:spcAft>
              <a:defRPr sz="1900" b="0" i="0">
                <a:solidFill>
                  <a:srgbClr val="5A6B7A"/>
                </a:solidFill>
                <a:latin typeface="Calibri"/>
              </a:defRPr>
            </a:pPr>
            <a:r>
              <a:t>The black box is the control that tells us whether the physical prior is doing any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5A6B7A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0F3D62"/>
                </a:solidFill>
                <a:latin typeface="Calibri"/>
              </a:defRPr>
            </a:pPr>
            <a:r>
              <a:t>Prediction error against the baselines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20095" cy="12700"/>
          </a:xfrm>
          <a:prstGeom prst="rect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5A6B7A"/>
                </a:solidFill>
                <a:latin typeface="Calibri"/>
              </a:defRPr>
            </a:pPr>
            <a:r>
              <a:t>12 /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91640"/>
          <a:ext cx="10826496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/>
                <a:gridCol w="1737360"/>
                <a:gridCol w="1737360"/>
                <a:gridCol w="1737360"/>
                <a:gridCol w="2231136"/>
              </a:tblGrid>
              <a:tr h="5669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 marL="82296" marR="82296" marT="18288" marB="18288">
                    <a:solidFill>
                      <a:srgbClr val="0F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RMSE</a:t>
                      </a:r>
                      <a:br/>
                      <a:r>
                        <a:t>[N·m]</a:t>
                      </a:r>
                    </a:p>
                  </a:txBody>
                  <a:tcPr anchor="ctr" marL="82296" marR="82296" marT="18288" marB="18288">
                    <a:solidFill>
                      <a:srgbClr val="0F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Worst joint</a:t>
                      </a:r>
                      <a:br/>
                      <a:r>
                        <a:t>[N·m]</a:t>
                      </a:r>
                    </a:p>
                  </a:txBody>
                  <a:tcPr anchor="ctr" marL="82296" marR="82296" marT="18288" marB="18288">
                    <a:solidFill>
                      <a:srgbClr val="0F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 torque</a:t>
                      </a:r>
                      <a:br/>
                      <a:r>
                        <a:t>limit</a:t>
                      </a:r>
                    </a:p>
                  </a:txBody>
                  <a:tcPr anchor="ctr" marL="82296" marR="82296" marT="18288" marB="18288">
                    <a:solidFill>
                      <a:srgbClr val="0F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Guarantees</a:t>
                      </a:r>
                    </a:p>
                  </a:txBody>
                  <a:tcPr anchor="ctr" marL="82296" marR="82296" marT="18288" marB="18288">
                    <a:solidFill>
                      <a:srgbClr val="0F3D6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RNEA alone (analytical)</a:t>
                      </a:r>
                    </a:p>
                  </a:txBody>
                  <a:tcPr anchor="ctr" marL="82296" marR="8229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1.456</a:t>
                      </a:r>
                    </a:p>
                  </a:txBody>
                  <a:tcPr anchor="ctr" marL="82296" marR="8229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2.841</a:t>
                      </a:r>
                    </a:p>
                  </a:txBody>
                  <a:tcPr anchor="ctr" marL="82296" marR="8229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0.99 %</a:t>
                      </a:r>
                    </a:p>
                  </a:txBody>
                  <a:tcPr anchor="ctr" marL="82296" marR="8229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L="82296" marR="82296" marT="18288" marB="18288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Direct MLP (black box)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1.847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4.120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1.24 %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limits (penalty)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500" b="1" i="0">
                          <a:solidFill>
                            <a:srgbClr val="0F3D62"/>
                          </a:solidFill>
                          <a:latin typeface="Calibri"/>
                        </a:defRPr>
                      </a:pPr>
                      <a:r>
                        <a:t>Grey box (proposed)</a:t>
                      </a:r>
                    </a:p>
                  </a:txBody>
                  <a:tcPr anchor="ctr" marL="82296" marR="82296" marT="18288" marB="18288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1" i="0">
                          <a:solidFill>
                            <a:srgbClr val="0F3D62"/>
                          </a:solidFill>
                          <a:latin typeface="Calibri"/>
                        </a:defRPr>
                      </a:pPr>
                      <a:r>
                        <a:t>0.624</a:t>
                      </a:r>
                    </a:p>
                  </a:txBody>
                  <a:tcPr anchor="ctr" marL="82296" marR="82296" marT="18288" marB="18288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1" i="0">
                          <a:solidFill>
                            <a:srgbClr val="0F3D62"/>
                          </a:solidFill>
                          <a:latin typeface="Calibri"/>
                        </a:defRPr>
                      </a:pPr>
                      <a:r>
                        <a:t>1.022</a:t>
                      </a:r>
                    </a:p>
                  </a:txBody>
                  <a:tcPr anchor="ctr" marL="82296" marR="82296" marT="18288" marB="18288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1" i="0">
                          <a:solidFill>
                            <a:srgbClr val="0F3D62"/>
                          </a:solidFill>
                          <a:latin typeface="Calibri"/>
                        </a:defRPr>
                      </a:pPr>
                      <a:r>
                        <a:t>0.00 %</a:t>
                      </a:r>
                    </a:p>
                  </a:txBody>
                  <a:tcPr anchor="ctr" marL="82296" marR="82296" marT="18288" marB="18288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1" i="0">
                          <a:solidFill>
                            <a:srgbClr val="0F3D62"/>
                          </a:solidFill>
                          <a:latin typeface="Calibri"/>
                        </a:defRPr>
                      </a:pPr>
                      <a:r>
                        <a:t>limits + dissipativity</a:t>
                      </a:r>
                    </a:p>
                  </a:txBody>
                  <a:tcPr anchor="ctr" marL="82296" marR="82296" marT="18288" marB="18288">
                    <a:solidFill>
                      <a:srgbClr val="E3EC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160520"/>
            <a:ext cx="1082009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1900" b="0" i="0">
                <a:solidFill>
                  <a:srgbClr val="1A1A1A"/>
                </a:solidFill>
                <a:latin typeface="Calibri"/>
              </a:defRPr>
            </a:pPr>
            <a:r>
              <a:t>The black box fails to extrapolate to unseen trajectories — no acceleration input, no physical prior.</a:t>
            </a:r>
          </a:p>
          <a:p>
            <a:pPr algn="l">
              <a:spcAft>
                <a:spcPts val="1000"/>
              </a:spcAft>
              <a:defRPr sz="1900" b="1" i="0">
                <a:solidFill>
                  <a:srgbClr val="1A1A1A"/>
                </a:solidFill>
                <a:latin typeface="Calibri"/>
              </a:defRPr>
            </a:pPr>
            <a:r>
              <a:t>The grey box divides the analytical model's error by more than two, and violates no torque limit where the analytical model violates on 0.99 % of samples.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5A6B7A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0F3D62"/>
                </a:solidFill>
                <a:latin typeface="Calibri"/>
              </a:defRPr>
            </a:pPr>
            <a:r>
              <a:t>Per-joint analysis: an honest caveat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20095" cy="12700"/>
          </a:xfrm>
          <a:prstGeom prst="rect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5A6B7A"/>
                </a:solidFill>
                <a:latin typeface="Calibri"/>
              </a:defRPr>
            </a:pPr>
            <a:r>
              <a:t>13 /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91640"/>
          <a:ext cx="10186416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</a:tblGrid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RMSE [N·m]</a:t>
                      </a:r>
                    </a:p>
                  </a:txBody>
                  <a:tcPr anchor="ctr" marL="82296" marR="82296" marT="18288" marB="18288">
                    <a:solidFill>
                      <a:srgbClr val="0F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J1</a:t>
                      </a:r>
                    </a:p>
                  </a:txBody>
                  <a:tcPr anchor="ctr" marL="82296" marR="82296" marT="18288" marB="18288">
                    <a:solidFill>
                      <a:srgbClr val="0F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J2</a:t>
                      </a:r>
                    </a:p>
                  </a:txBody>
                  <a:tcPr anchor="ctr" marL="82296" marR="82296" marT="18288" marB="18288">
                    <a:solidFill>
                      <a:srgbClr val="0F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J3</a:t>
                      </a:r>
                    </a:p>
                  </a:txBody>
                  <a:tcPr anchor="ctr" marL="82296" marR="82296" marT="18288" marB="18288">
                    <a:solidFill>
                      <a:srgbClr val="0F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J4</a:t>
                      </a:r>
                    </a:p>
                  </a:txBody>
                  <a:tcPr anchor="ctr" marL="82296" marR="82296" marT="18288" marB="18288">
                    <a:solidFill>
                      <a:srgbClr val="0F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J5</a:t>
                      </a:r>
                    </a:p>
                  </a:txBody>
                  <a:tcPr anchor="ctr" marL="82296" marR="82296" marT="18288" marB="18288">
                    <a:solidFill>
                      <a:srgbClr val="0F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J6</a:t>
                      </a:r>
                    </a:p>
                  </a:txBody>
                  <a:tcPr anchor="ctr" marL="82296" marR="82296" marT="18288" marB="18288">
                    <a:solidFill>
                      <a:srgbClr val="0F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J7</a:t>
                      </a:r>
                    </a:p>
                  </a:txBody>
                  <a:tcPr anchor="ctr" marL="82296" marR="82296" marT="18288" marB="18288">
                    <a:solidFill>
                      <a:srgbClr val="0F3D6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RNEA alone</a:t>
                      </a:r>
                    </a:p>
                  </a:txBody>
                  <a:tcPr anchor="ctr" marL="82296" marR="8229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1.588</a:t>
                      </a:r>
                    </a:p>
                  </a:txBody>
                  <a:tcPr anchor="ctr" marL="82296" marR="8229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2.841</a:t>
                      </a:r>
                    </a:p>
                  </a:txBody>
                  <a:tcPr anchor="ctr" marL="82296" marR="8229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1.824</a:t>
                      </a:r>
                    </a:p>
                  </a:txBody>
                  <a:tcPr anchor="ctr" marL="82296" marR="8229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1.953</a:t>
                      </a:r>
                    </a:p>
                  </a:txBody>
                  <a:tcPr anchor="ctr" marL="82296" marR="8229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0.883</a:t>
                      </a:r>
                    </a:p>
                  </a:txBody>
                  <a:tcPr anchor="ctr" marL="82296" marR="8229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1.062</a:t>
                      </a:r>
                    </a:p>
                  </a:txBody>
                  <a:tcPr anchor="ctr" marL="82296" marR="82296" marT="18288" marB="18288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0.042</a:t>
                      </a:r>
                    </a:p>
                  </a:txBody>
                  <a:tcPr anchor="ctr" marL="82296" marR="82296" marT="18288" marB="18288">
                    <a:solidFill>
                      <a:srgbClr val="F2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Grey box (proposed)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1.022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0.935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0.553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0.843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0.371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0.355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 i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0.288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429000"/>
            <a:ext cx="10820095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1900" b="0" i="0">
                <a:solidFill>
                  <a:srgbClr val="1A1A1A"/>
                </a:solidFill>
                <a:latin typeface="Calibri"/>
              </a:defRPr>
            </a:pPr>
            <a:r>
              <a:t>Large joints: the residual compensates the analytical model drastically — J2 falls 2.841 → 0.935 N·m.</a:t>
            </a:r>
          </a:p>
          <a:p>
            <a:pPr algn="l">
              <a:spcAft>
                <a:spcPts val="1000"/>
              </a:spcAft>
              <a:defRPr sz="1900" b="0" i="0">
                <a:solidFill>
                  <a:srgbClr val="B03A2E"/>
                </a:solidFill>
                <a:latin typeface="Calibri"/>
              </a:defRPr>
            </a:pPr>
            <a:r>
              <a:t>J7, the wrist roll: RNEA is already excellent (0.042), and the residual makes it 6.9× worse.</a:t>
            </a:r>
          </a:p>
          <a:p>
            <a:pPr algn="l">
              <a:spcAft>
                <a:spcPts val="1000"/>
              </a:spcAft>
              <a:defRPr sz="1900" b="0" i="0">
                <a:solidFill>
                  <a:srgbClr val="1A1A1A"/>
                </a:solidFill>
                <a:latin typeface="Calibri"/>
              </a:defRPr>
            </a:pPr>
            <a:r>
              <a:t>Cause: an unweighted global loss gives the network no incentive to keep a zero residual where zero is the right answer.</a:t>
            </a:r>
          </a:p>
          <a:p>
            <a:pPr algn="l">
              <a:spcAft>
                <a:spcPts val="1000"/>
              </a:spcAft>
              <a:defRPr sz="1900" b="0" i="0">
                <a:solidFill>
                  <a:srgbClr val="5A6B7A"/>
                </a:solidFill>
                <a:latin typeface="Calibri"/>
              </a:defRPr>
            </a:pPr>
            <a:r>
              <a:t>Fix, and it is future work: a diagonal weighting matrix in the loss.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5A6B7A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0F3D62"/>
                </a:solidFill>
                <a:latin typeface="Calibri"/>
              </a:defRPr>
            </a:pPr>
            <a:r>
              <a:t>Ablation and cross-simulator transfer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20095" cy="12700"/>
          </a:xfrm>
          <a:prstGeom prst="rect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5A6B7A"/>
                </a:solidFill>
                <a:latin typeface="Calibri"/>
              </a:defRPr>
            </a:pPr>
            <a:r>
              <a:t>14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20095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1900" b="1" i="0">
                <a:solidFill>
                  <a:srgbClr val="1A1A1A"/>
                </a:solidFill>
                <a:latin typeface="Calibri"/>
              </a:defRPr>
            </a:pPr>
            <a:r>
              <a:t>Ablating FrictionNet costs only 1.4 % of accuracy (vs 0.624 N·m).</a:t>
            </a:r>
          </a:p>
          <a:p>
            <a:pPr lvl="1" algn="l">
              <a:spcAft>
                <a:spcPts val="600"/>
              </a:spcAft>
              <a:defRPr sz="1700" b="0" i="0">
                <a:solidFill>
                  <a:srgbClr val="1A1A1A"/>
                </a:solidFill>
                <a:latin typeface="Calibri"/>
              </a:defRPr>
            </a:pPr>
            <a:r>
              <a:t>– Its value is not precision — it is the formal dissipativity guarantee, which is what certification of a collaborative robot asks for.</a:t>
            </a:r>
          </a:p>
          <a:p>
            <a:pPr algn="l">
              <a:spcAft>
                <a:spcPts val="1000"/>
              </a:spcAft>
              <a:defRPr sz="19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1000"/>
              </a:spcAft>
              <a:defRPr sz="1900" b="1" i="0">
                <a:solidFill>
                  <a:srgbClr val="1A1A1A"/>
                </a:solidFill>
                <a:latin typeface="Calibri"/>
              </a:defRPr>
            </a:pPr>
            <a:r>
              <a:t>Closed loop: control law at 1 kHz, ROS2 node against MuJoCo, while the model was trained under Isaac Sim.</a:t>
            </a:r>
          </a:p>
          <a:p>
            <a:pPr lvl="1" algn="l">
              <a:spcAft>
                <a:spcPts val="600"/>
              </a:spcAft>
              <a:defRPr sz="1700" b="0" i="0">
                <a:solidFill>
                  <a:srgbClr val="B03A2E"/>
                </a:solidFill>
                <a:latin typeface="Calibri"/>
              </a:defRPr>
            </a:pPr>
            <a:r>
              <a:t>– Disabling the learned residual halves the Cartesian error instantly.</a:t>
            </a:r>
          </a:p>
          <a:p>
            <a:pPr lvl="1" algn="l">
              <a:spcAft>
                <a:spcPts val="600"/>
              </a:spcAft>
              <a:defRPr sz="1700" b="0" i="0">
                <a:solidFill>
                  <a:srgbClr val="1A1A1A"/>
                </a:solidFill>
                <a:latin typeface="Calibri"/>
              </a:defRPr>
            </a:pPr>
            <a:r>
              <a:t>– The Isaac-trained residual is being evaluated out of distribution: it adds a gap that the new engine does not have.</a:t>
            </a:r>
          </a:p>
          <a:p>
            <a:pPr algn="l">
              <a:spcAft>
                <a:spcPts val="1000"/>
              </a:spcAft>
              <a:defRPr sz="1900" b="0" i="0">
                <a:solidFill>
                  <a:srgbClr val="1A1A1A"/>
                </a:solidFill>
                <a:latin typeface="Calibri"/>
              </a:defRPr>
            </a:pPr>
            <a:r>
              <a:t>This isolates the cost of domain transfer, and motivates a fine-tuning protocol (frozen backbone, Duong et al.).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5A6B7A"/>
                </a:solidFill>
                <a:latin typeface="Calibri"/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0F3D62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20095" cy="12700"/>
          </a:xfrm>
          <a:prstGeom prst="rect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5A6B7A"/>
                </a:solidFill>
                <a:latin typeface="Calibri"/>
              </a:defRPr>
            </a:pPr>
            <a:r>
              <a:t>15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20095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1900" b="1" i="0">
                <a:solidFill>
                  <a:srgbClr val="1A1A1A"/>
                </a:solidFill>
                <a:latin typeface="Calibri"/>
              </a:defRPr>
            </a:pPr>
            <a:r>
              <a:t>A URDF file in, a payload-conditioned dynamics model out, with torque limits and dissipativity guaranteed rather than hoped for.</a:t>
            </a:r>
          </a:p>
          <a:p>
            <a:pPr algn="l">
              <a:spcAft>
                <a:spcPts val="1000"/>
              </a:spcAft>
              <a:defRPr sz="1900" b="0" i="0">
                <a:solidFill>
                  <a:srgbClr val="1A1A1A"/>
                </a:solidFill>
                <a:latin typeface="Calibri"/>
              </a:defRPr>
            </a:pPr>
            <a:r>
              <a:t>Error of the analytical model cut by more than half, with zero torque-limit violations.</a:t>
            </a:r>
          </a:p>
          <a:p>
            <a:pPr algn="l">
              <a:spcAft>
                <a:spcPts val="1000"/>
              </a:spcAft>
              <a:defRPr sz="1900" b="0" i="0">
                <a:solidFill>
                  <a:srgbClr val="1A1A1A"/>
                </a:solidFill>
                <a:latin typeface="Calibri"/>
              </a:defRPr>
            </a:pPr>
            <a:r>
              <a:t>Good enough for feedforward control: a plain PD on top runs the arm at 1 kHz.</a:t>
            </a:r>
          </a:p>
          <a:p>
            <a:pPr algn="l">
              <a:spcAft>
                <a:spcPts val="1000"/>
              </a:spcAft>
              <a:defRPr sz="19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1000"/>
              </a:spcAft>
              <a:defRPr sz="1900" b="1" i="0">
                <a:solidFill>
                  <a:srgbClr val="1A1A1A"/>
                </a:solidFill>
                <a:latin typeface="Calibri"/>
              </a:defRPr>
            </a:pPr>
            <a:r>
              <a:t>Next:</a:t>
            </a:r>
          </a:p>
          <a:p>
            <a:pPr lvl="1" algn="l">
              <a:spcAft>
                <a:spcPts val="600"/>
              </a:spcAft>
              <a:defRPr sz="1700" b="0" i="0">
                <a:solidFill>
                  <a:srgbClr val="1A1A1A"/>
                </a:solidFill>
                <a:latin typeface="Calibri"/>
              </a:defRPr>
            </a:pPr>
            <a:r>
              <a:t>– frozen-backbone fine-tuning on data from the physical Franka</a:t>
            </a:r>
          </a:p>
          <a:p>
            <a:pPr lvl="1" algn="l">
              <a:spcAft>
                <a:spcPts val="600"/>
              </a:spcAft>
              <a:defRPr sz="1700" b="0" i="0">
                <a:solidFill>
                  <a:srgbClr val="1A1A1A"/>
                </a:solidFill>
                <a:latin typeface="Calibri"/>
              </a:defRPr>
            </a:pPr>
            <a:r>
              <a:t>– a diagonal weighting matrix in the loss, to stop the residual degrading the joints that were already right</a:t>
            </a:r>
          </a:p>
          <a:p>
            <a:pPr algn="l">
              <a:spcAft>
                <a:spcPts val="1000"/>
              </a:spcAft>
              <a:defRPr sz="19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1000"/>
              </a:spcAft>
              <a:defRPr sz="1900" b="0" i="0">
                <a:solidFill>
                  <a:srgbClr val="5A6B7A"/>
                </a:solidFill>
                <a:latin typeface="Calibri"/>
              </a:defRPr>
            </a:pPr>
            <a: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